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Studio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Sheet1!$A$2:$A$19</c:f>
              <c:strCache>
                <c:ptCount val="18"/>
                <c:pt idx="0">
                  <c:v>Kamppi-Ruoholahti</c:v>
                </c:pt>
                <c:pt idx="1">
                  <c:v>Taka-Töölö</c:v>
                </c:pt>
                <c:pt idx="2">
                  <c:v>Kallio</c:v>
                </c:pt>
                <c:pt idx="3">
                  <c:v>Sörnäinen</c:v>
                </c:pt>
                <c:pt idx="4">
                  <c:v>Lauttasaari</c:v>
                </c:pt>
                <c:pt idx="5">
                  <c:v>Etu-Vallila-Alppila</c:v>
                </c:pt>
                <c:pt idx="6">
                  <c:v>Itä-Pasila</c:v>
                </c:pt>
                <c:pt idx="7">
                  <c:v>Etelä-Haaga</c:v>
                </c:pt>
                <c:pt idx="8">
                  <c:v>Oulunkylä-Patola</c:v>
                </c:pt>
                <c:pt idx="9">
                  <c:v>Laajasalo</c:v>
                </c:pt>
                <c:pt idx="10">
                  <c:v>Kannelmäki</c:v>
                </c:pt>
                <c:pt idx="11">
                  <c:v>Myllypuro</c:v>
                </c:pt>
                <c:pt idx="12">
                  <c:v>Kontula-Vesala</c:v>
                </c:pt>
                <c:pt idx="13">
                  <c:v>Mellunmäki</c:v>
                </c:pt>
                <c:pt idx="14">
                  <c:v>Pohjois-Leppävaara</c:v>
                </c:pt>
                <c:pt idx="15">
                  <c:v>Etelä-Leppävaara</c:v>
                </c:pt>
                <c:pt idx="16">
                  <c:v>Tikkurila</c:v>
                </c:pt>
                <c:pt idx="17">
                  <c:v>Kivistö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28.36</c:v>
                </c:pt>
                <c:pt idx="1">
                  <c:v>28.65</c:v>
                </c:pt>
                <c:pt idx="2">
                  <c:v>27.13</c:v>
                </c:pt>
                <c:pt idx="3">
                  <c:v>27.74</c:v>
                </c:pt>
                <c:pt idx="4">
                  <c:v>27.09</c:v>
                </c:pt>
                <c:pt idx="5">
                  <c:v>27.62</c:v>
                </c:pt>
                <c:pt idx="6">
                  <c:v>28.8</c:v>
                </c:pt>
                <c:pt idx="7">
                  <c:v>26.04</c:v>
                </c:pt>
                <c:pt idx="8">
                  <c:v>23.76</c:v>
                </c:pt>
                <c:pt idx="9">
                  <c:v>23.52</c:v>
                </c:pt>
                <c:pt idx="10">
                  <c:v>24.26</c:v>
                </c:pt>
                <c:pt idx="11">
                  <c:v>23.62</c:v>
                </c:pt>
                <c:pt idx="12">
                  <c:v>25.64</c:v>
                </c:pt>
                <c:pt idx="13">
                  <c:v>23.37</c:v>
                </c:pt>
                <c:pt idx="14">
                  <c:v>22.39</c:v>
                </c:pt>
                <c:pt idx="15">
                  <c:v>25.0</c:v>
                </c:pt>
                <c:pt idx="16">
                  <c:v>24.15</c:v>
                </c:pt>
                <c:pt idx="17">
                  <c:v>24.19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One-bedroom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Sheet1!$A$2:$A$19</c:f>
              <c:strCache>
                <c:ptCount val="18"/>
                <c:pt idx="0">
                  <c:v>Kamppi-Ruoholahti</c:v>
                </c:pt>
                <c:pt idx="1">
                  <c:v>Taka-Töölö</c:v>
                </c:pt>
                <c:pt idx="2">
                  <c:v>Kallio</c:v>
                </c:pt>
                <c:pt idx="3">
                  <c:v>Sörnäinen</c:v>
                </c:pt>
                <c:pt idx="4">
                  <c:v>Lauttasaari</c:v>
                </c:pt>
                <c:pt idx="5">
                  <c:v>Etu-Vallila-Alppila</c:v>
                </c:pt>
                <c:pt idx="6">
                  <c:v>Itä-Pasila</c:v>
                </c:pt>
                <c:pt idx="7">
                  <c:v>Etelä-Haaga</c:v>
                </c:pt>
                <c:pt idx="8">
                  <c:v>Oulunkylä-Patola</c:v>
                </c:pt>
                <c:pt idx="9">
                  <c:v>Laajasalo</c:v>
                </c:pt>
                <c:pt idx="10">
                  <c:v>Kannelmäki</c:v>
                </c:pt>
                <c:pt idx="11">
                  <c:v>Myllypuro</c:v>
                </c:pt>
                <c:pt idx="12">
                  <c:v>Kontula-Vesala</c:v>
                </c:pt>
                <c:pt idx="13">
                  <c:v>Mellunmäki</c:v>
                </c:pt>
                <c:pt idx="14">
                  <c:v>Pohjois-Leppävaara</c:v>
                </c:pt>
                <c:pt idx="15">
                  <c:v>Etelä-Leppävaara</c:v>
                </c:pt>
                <c:pt idx="16">
                  <c:v>Tikkurila</c:v>
                </c:pt>
                <c:pt idx="17">
                  <c:v>Kivistö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25.1</c:v>
                </c:pt>
                <c:pt idx="1">
                  <c:v>22.0</c:v>
                </c:pt>
                <c:pt idx="2">
                  <c:v>23.15</c:v>
                </c:pt>
                <c:pt idx="3">
                  <c:v>22.49</c:v>
                </c:pt>
                <c:pt idx="4">
                  <c:v>21.93</c:v>
                </c:pt>
                <c:pt idx="5">
                  <c:v>21.69</c:v>
                </c:pt>
                <c:pt idx="7">
                  <c:v>19.71</c:v>
                </c:pt>
                <c:pt idx="8">
                  <c:v>17.27</c:v>
                </c:pt>
                <c:pt idx="9">
                  <c:v>17.2</c:v>
                </c:pt>
                <c:pt idx="10">
                  <c:v>17.78</c:v>
                </c:pt>
                <c:pt idx="11">
                  <c:v>17.82</c:v>
                </c:pt>
                <c:pt idx="12">
                  <c:v>18.2</c:v>
                </c:pt>
                <c:pt idx="13">
                  <c:v>18.85</c:v>
                </c:pt>
                <c:pt idx="14">
                  <c:v>18.62</c:v>
                </c:pt>
                <c:pt idx="17">
                  <c:v>19.33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Two-bedroom+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Sheet1!$A$2:$A$19</c:f>
              <c:strCache>
                <c:ptCount val="18"/>
                <c:pt idx="0">
                  <c:v>Kamppi-Ruoholahti</c:v>
                </c:pt>
                <c:pt idx="1">
                  <c:v>Taka-Töölö</c:v>
                </c:pt>
                <c:pt idx="2">
                  <c:v>Kallio</c:v>
                </c:pt>
                <c:pt idx="3">
                  <c:v>Sörnäinen</c:v>
                </c:pt>
                <c:pt idx="4">
                  <c:v>Lauttasaari</c:v>
                </c:pt>
                <c:pt idx="5">
                  <c:v>Etu-Vallila-Alppila</c:v>
                </c:pt>
                <c:pt idx="6">
                  <c:v>Itä-Pasila</c:v>
                </c:pt>
                <c:pt idx="7">
                  <c:v>Etelä-Haaga</c:v>
                </c:pt>
                <c:pt idx="8">
                  <c:v>Oulunkylä-Patola</c:v>
                </c:pt>
                <c:pt idx="9">
                  <c:v>Laajasalo</c:v>
                </c:pt>
                <c:pt idx="10">
                  <c:v>Kannelmäki</c:v>
                </c:pt>
                <c:pt idx="11">
                  <c:v>Myllypuro</c:v>
                </c:pt>
                <c:pt idx="12">
                  <c:v>Kontula-Vesala</c:v>
                </c:pt>
                <c:pt idx="13">
                  <c:v>Mellunmäki</c:v>
                </c:pt>
                <c:pt idx="14">
                  <c:v>Pohjois-Leppävaara</c:v>
                </c:pt>
                <c:pt idx="15">
                  <c:v>Etelä-Leppävaara</c:v>
                </c:pt>
                <c:pt idx="16">
                  <c:v>Tikkurila</c:v>
                </c:pt>
                <c:pt idx="17">
                  <c:v>Kivistö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22.36</c:v>
                </c:pt>
                <c:pt idx="1">
                  <c:v>21.48</c:v>
                </c:pt>
                <c:pt idx="4">
                  <c:v>20.67</c:v>
                </c:pt>
                <c:pt idx="11">
                  <c:v>17.12</c:v>
                </c:pt>
                <c:pt idx="13">
                  <c:v>17.77</c:v>
                </c:pt>
                <c:pt idx="17">
                  <c:v>18.06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7EA"/>
            </a:solidFill>
          </a:ln>
        </c:spPr>
        <c:txPr>
          <a:bodyPr/>
          <a:lstStyle/>
          <a:p>
            <a:pPr>
              <a:defRPr sz="1000">
                <a:solidFill>
                  <a:srgbClr val="4A5864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b"/>
        <c:majorGridlines>
          <c:spPr>
            <a:ln>
              <a:solidFill>
                <a:srgbClr val="E3E7E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E3E7EA"/>
            </a:solidFill>
          </a:ln>
        </c:spPr>
        <c:txPr>
          <a:bodyPr/>
          <a:lstStyle/>
          <a:p>
            <a:pPr>
              <a:defRPr sz="1000">
                <a:solidFill>
                  <a:srgbClr val="4A5864"/>
                </a:solidFill>
                <a:latin typeface="Calibri"/>
              </a:defRPr>
            </a:pPr>
          </a:p>
        </c:txPr>
        <c:crossAx val="-2068027336"/>
        <c:crosses val="max"/>
        <c:majorUnit val="5.0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A5864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Growth 2025Q2 to 2026Q2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EB6834"/>
              </a:solidFill>
            </c:spPr>
          </c:dPt>
          <c:dPt>
            <c:idx val="1"/>
            <c:invertIfNegative val="0"/>
            <c:spPr>
              <a:solidFill>
                <a:srgbClr val="EB6834"/>
              </a:solidFill>
            </c:spPr>
          </c:dPt>
          <c:dPt>
            <c:idx val="2"/>
            <c:invertIfNegative val="0"/>
            <c:spPr>
              <a:solidFill>
                <a:srgbClr val="2A78D6"/>
              </a:solidFill>
            </c:spPr>
          </c:dPt>
          <c:dPt>
            <c:idx val="3"/>
            <c:invertIfNegative val="0"/>
            <c:spPr>
              <a:solidFill>
                <a:srgbClr val="2A78D6"/>
              </a:solidFill>
            </c:spPr>
          </c:dPt>
          <c:dPt>
            <c:idx val="4"/>
            <c:invertIfNegative val="0"/>
            <c:spPr>
              <a:solidFill>
                <a:srgbClr val="12202B"/>
              </a:solidFill>
            </c:spPr>
          </c:dPt>
          <c:cat>
            <c:strRef>
              <c:f>Sheet1!$A$2:$A$6</c:f>
              <c:strCache>
                <c:ptCount val="5"/>
                <c:pt idx="0">
                  <c:v>Average rent: ARIMA(0,1,0) with drift</c:v>
                </c:pt>
                <c:pt idx="1">
                  <c:v>Average rent: + 2017Q3 level shift</c:v>
                </c:pt>
                <c:pt idx="2">
                  <c:v>Rent index: random walk with drift</c:v>
                </c:pt>
                <c:pt idx="3">
                  <c:v>Rent index: ARIMA(0,2,1)(1,0,0)[4]</c:v>
                </c:pt>
                <c:pt idx="4">
                  <c:v>Actual (new index)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0.0212</c:v>
                </c:pt>
                <c:pt idx="1">
                  <c:v>0.0173</c:v>
                </c:pt>
                <c:pt idx="2">
                  <c:v>0.0091</c:v>
                </c:pt>
                <c:pt idx="3">
                  <c:v>0.0002</c:v>
                </c:pt>
                <c:pt idx="4">
                  <c:v>-0.0020000000000000018</c:v>
                </c:pt>
              </c:numCache>
            </c:numRef>
          </c:val>
        </c:ser>
        <c:dLbls>
          <c:numFmt formatCode="+0.0%;-0.0%;0.0%" sourceLinked="0"/>
          <c:txPr>
            <a:bodyPr/>
            <a:lstStyle/>
            <a:p>
              <a:pPr>
                <a:defRPr sz="1200" b="1">
                  <a:solidFill>
                    <a:srgbClr val="12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7EA"/>
            </a:solidFill>
          </a:ln>
        </c:spPr>
        <c:txPr>
          <a:bodyPr/>
          <a:lstStyle/>
          <a:p>
            <a:pPr>
              <a:defRPr sz="1100">
                <a:solidFill>
                  <a:srgbClr val="4A5864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"/>
          <c:min val="-0.01"/>
        </c:scaling>
        <c:delete val="0"/>
        <c:axPos val="b"/>
        <c:majorGridlines>
          <c:spPr>
            <a:ln>
              <a:solidFill>
                <a:srgbClr val="E3E7EA"/>
              </a:solidFill>
            </a:ln>
          </c:spPr>
        </c:majorGridlines>
        <c:numFmt formatCode="+0%;-0%;0%" sourceLinked="0"/>
        <c:majorTickMark val="out"/>
        <c:minorTickMark val="none"/>
        <c:tickLblPos val="nextTo"/>
        <c:spPr>
          <a:ln>
            <a:solidFill>
              <a:srgbClr val="E3E7EA"/>
            </a:solidFill>
          </a:ln>
        </c:spPr>
        <c:txPr>
          <a:bodyPr/>
          <a:lstStyle/>
          <a:p>
            <a:pPr>
              <a:defRPr sz="1100">
                <a:solidFill>
                  <a:srgbClr val="4A5864"/>
                </a:solidFill>
                <a:latin typeface="Calibri"/>
              </a:defRPr>
            </a:pPr>
          </a:p>
        </c:txPr>
        <c:crossAx val="-2068027336"/>
        <c:crosses val="max"/>
        <c:majorUnit val="0.01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Fully let in 3 months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</c:v>
                </c:pt>
                <c:pt idx="1">
                  <c:v>-16.128</c:v>
                </c:pt>
                <c:pt idx="2">
                  <c:v>-12.663862400000001</c:v>
                </c:pt>
                <c:pt idx="3">
                  <c:v>10.392412799999995</c:v>
                </c:pt>
                <c:pt idx="4">
                  <c:v>53.0408256</c:v>
                </c:pt>
                <c:pt idx="5">
                  <c:v>95.68923840000001</c:v>
                </c:pt>
                <c:pt idx="6">
                  <c:v>138.33765119999998</c:v>
                </c:pt>
                <c:pt idx="7">
                  <c:v>180.98606399999997</c:v>
                </c:pt>
                <c:pt idx="8">
                  <c:v>223.6344768</c:v>
                </c:pt>
                <c:pt idx="9">
                  <c:v>266.2828896</c:v>
                </c:pt>
                <c:pt idx="10">
                  <c:v>308.9313024</c:v>
                </c:pt>
                <c:pt idx="11">
                  <c:v>351.57971519999995</c:v>
                </c:pt>
                <c:pt idx="12">
                  <c:v>394.22812799999997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Fully let in 6 months</c:v>
                </c:pt>
              </c:strCache>
            </c:strRef>
          </c:tx>
          <c:spPr>
            <a:ln w="31750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0.0</c:v>
                </c:pt>
                <c:pt idx="1">
                  <c:v>-16.128</c:v>
                </c:pt>
                <c:pt idx="2">
                  <c:v>-22.4599312</c:v>
                </c:pt>
                <c:pt idx="3">
                  <c:v>-18.995793600000002</c:v>
                </c:pt>
                <c:pt idx="4">
                  <c:v>-5.735587200000002</c:v>
                </c:pt>
                <c:pt idx="5">
                  <c:v>17.320687999999986</c:v>
                </c:pt>
                <c:pt idx="6">
                  <c:v>50.173031999999985</c:v>
                </c:pt>
                <c:pt idx="7">
                  <c:v>92.82144479999998</c:v>
                </c:pt>
                <c:pt idx="8">
                  <c:v>135.46985759999998</c:v>
                </c:pt>
                <c:pt idx="9">
                  <c:v>178.11827039999997</c:v>
                </c:pt>
                <c:pt idx="10">
                  <c:v>220.76668319999996</c:v>
                </c:pt>
                <c:pt idx="11">
                  <c:v>263.41509599999995</c:v>
                </c:pt>
                <c:pt idx="12">
                  <c:v>306.06350879999997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Fully let in 9 months</c:v>
                </c:pt>
              </c:strCache>
            </c:strRef>
          </c:tx>
          <c:spPr>
            <a:ln w="31750">
              <a:solidFill>
                <a:srgbClr val="1BAF7A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0.0</c:v>
                </c:pt>
                <c:pt idx="1">
                  <c:v>-16.128</c:v>
                </c:pt>
                <c:pt idx="2">
                  <c:v>-25.725287466666668</c:v>
                </c:pt>
                <c:pt idx="3">
                  <c:v>-28.791862400000007</c:v>
                </c:pt>
                <c:pt idx="4">
                  <c:v>-25.327724800000006</c:v>
                </c:pt>
                <c:pt idx="5">
                  <c:v>-15.332874666666678</c:v>
                </c:pt>
                <c:pt idx="6">
                  <c:v>1.1926879999999873</c:v>
                </c:pt>
                <c:pt idx="7">
                  <c:v>24.248963199999984</c:v>
                </c:pt>
                <c:pt idx="8">
                  <c:v>53.83595093333332</c:v>
                </c:pt>
                <c:pt idx="9">
                  <c:v>89.95365119999998</c:v>
                </c:pt>
                <c:pt idx="10">
                  <c:v>132.60206399999998</c:v>
                </c:pt>
                <c:pt idx="11">
                  <c:v>175.25047679999997</c:v>
                </c:pt>
                <c:pt idx="12">
                  <c:v>217.89888959999996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4A5864"/>
                    </a:solidFill>
                    <a:latin typeface="Calibri"/>
                  </a:rPr>
                  <a:t>Month after completion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>
            <a:solidFill>
              <a:srgbClr val="E3E7EA"/>
            </a:solidFill>
          </a:ln>
        </c:spPr>
        <c:txPr>
          <a:bodyPr/>
          <a:lstStyle/>
          <a:p>
            <a:pPr>
              <a:defRPr sz="1100">
                <a:solidFill>
                  <a:srgbClr val="4A5864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4A5864"/>
                    </a:solidFill>
                    <a:latin typeface="Calibri"/>
                  </a:rPr>
                  <a:t>Cumulative NOI, € thousand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E3E7EA"/>
            </a:solidFill>
          </a:ln>
        </c:spPr>
        <c:txPr>
          <a:bodyPr/>
          <a:lstStyle/>
          <a:p>
            <a:pPr>
              <a:defRPr sz="1100">
                <a:solidFill>
                  <a:srgbClr val="4A5864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4A5864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postal areas, chosen for data coverage and a spread from the centre to newer districts. Studios rent for the most per square metre everywhere, 22 to 29 euros. The inner city is 3 to 5 euros above the outer suburbs for studios, up to 8 for one-bedroom flats.</a:t>
            </a:r>
          </a:p>
          <a:p>
            <a:r>
              <a:t>Rent growth has been slow. Like-for-like, Helsinki rents rose only 2 percent in five years.</a:t>
            </a:r>
          </a:p>
          <a:p>
            <a:r>
              <a:t>The gaps matter: Statistics Finland hides cells with under 20 leases or where one large landlord dominates. That is exactly where new build-to-rent buildings are, so public data is thinnest where an investor needs it most. Benchmark quarter is 2025Q2 because the archived table breaks in 2025Q3-Q4.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forecast the Helsinki average rent with the same Box-Jenkins steps as my electricity project. After one difference no autocorrelation was left, so the model is a random walk with drift. The forecast quarters have already happened, so I could check it: it said +2.1 percent, rents were flat.</a:t>
            </a:r>
          </a:p>
          <a:p>
            <a:r>
              <a:t>The main reason is the measure. The average rises when newer, more expensive flats enter the data, and it has a one-off break in 2017Q3. The like-for-like index does not, and a model on the index forecast zero growth.</a:t>
            </a:r>
          </a:p>
          <a:p>
            <a:r>
              <a:t>I kept the 2017Q3 dummy as a check only: it was placed after seeing the residual, so its better AICc is not a fair comparison.</a:t>
            </a:r>
          </a:p>
          <a:p>
            <a:r>
              <a:t>Lesson: choosing the right measure mattered more than choosing the ARIMA order. For the lease-up model I assume flat rents in year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hypothetical new building, 70 flats in zone 2, rents from Statistics Finland's new-lease data. Operating costs run on every flat from month one, but rent only comes from let flats.</a:t>
            </a:r>
          </a:p>
          <a:p>
            <a:r>
              <a:t>With a linear lease-up, each extra month costs exactly half a month of stabilised rent, about 29,000 euros here. Letting in 9 months instead of 3 loses 176,000 euros, a third of a year's NOI.</a:t>
            </a:r>
          </a:p>
          <a:p>
            <a:r>
              <a:t>Cut rent or wait? In year one, speed wins: filling 3 months faster is worth up to a 15 percent rent cut. But Finnish leases run until further notice, so a discount can stay. A 5 percent cut is paid back 20 months after year one, and a permanent cut lowers value by about 0.8 million euros.</a:t>
            </a:r>
          </a:p>
          <a:p>
            <a:r>
              <a:t>So it depends on how much faster a lower rent really lets, and how long the discount lasts. Public data cannot answer the first. That is a question for real leasing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input is either from a cited source or labelled as an assumption. The largest sensitivities are the yield and the lease-up time. Occupancy at today's market level, 94 percent, barely changes the results. The building is hypothetical and not a valuation of any Taaleri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4C5C"/>
                </a:solidFill>
                <a:latin typeface="Cambria"/>
              </a:rPr>
              <a:t>Helsinki-area rents run from 17 to 29 €/m² a month, highest for studios and the inner city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55448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49640" y="160020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76479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4C5C"/>
                </a:solidFill>
                <a:latin typeface="Cambria"/>
              </a:rPr>
              <a:t>22.04 €/m²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4688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864"/>
                </a:solidFill>
                <a:latin typeface="Calibri"/>
              </a:rPr>
              <a:t>Helsinki rent for new leases, 2026Q2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320040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336499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4C5C"/>
                </a:solidFill>
                <a:latin typeface="Cambria"/>
              </a:rPr>
              <a:t>+2.0%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0690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864"/>
                </a:solidFill>
                <a:latin typeface="Calibri"/>
              </a:rPr>
              <a:t>Like-for-like Helsinki rent change in the 5 years to 2025Q2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480060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496519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B6834"/>
                </a:solidFill>
                <a:latin typeface="Cambria"/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864"/>
                </a:solidFill>
                <a:latin typeface="Calibri"/>
              </a:rPr>
              <a:t>of capital-region postal-code cells, 2015-2025, hidden by Statistics Finland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5828D"/>
                </a:solidFill>
                <a:latin typeface="Calibri"/>
              </a:rPr>
              <a:t>Free-market average rent, 2025Q2, areas with at least 30 leases. Gaps: hidden or too few leases. Source: Statistics Finland, rents of dwellings (CC BY 4.0), tables 13eb, 11x4, 15fa.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5828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4C5C"/>
                </a:solidFill>
                <a:latin typeface="Cambria"/>
              </a:rPr>
              <a:t>A trend forecast of the average rent overshot. The like-for-like index called a flat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4C5C"/>
                </a:solidFill>
                <a:latin typeface="Calibri"/>
              </a:rPr>
              <a:t>Forecast growth of Helsinki rent, 2025Q2 to 2026Q2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201168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01000" y="169164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4C5C"/>
                </a:solidFill>
                <a:latin typeface="Calibri"/>
              </a:rPr>
              <a:t>Why the average overshot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2103120"/>
            <a:ext cx="3611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864"/>
                </a:solidFill>
                <a:latin typeface="Calibri"/>
              </a:rPr>
              <a:t>The average rose 27.8% in 2015 to 2025, like-for-like rents only 10.2%. Newer flats entering the data and a 2017Q3 break in the series push the average up.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864"/>
                </a:solidFill>
                <a:latin typeface="Calibri"/>
              </a:rPr>
              <a:t>Growth also slowed, from 1.3% a year before 2022 to 0.3% after.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3977639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Calibri"/>
              </a:rPr>
              <a:t>Caveat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4389120"/>
            <a:ext cx="3611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864"/>
                </a:solidFill>
                <a:latin typeface="Calibri"/>
              </a:rPr>
              <a:t>The index model was chosen after the outcome was known. One correct forecast is weak evidence. A naive "no change" forecast also beat every model in the hold-out.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5828D"/>
                </a:solidFill>
                <a:latin typeface="Calibri"/>
              </a:rPr>
              <a:t>Helsinki, free-market. Box-Jenkins ARIMA in R, fitted on 2015Q1 to 2025Q2. Actual: Statistics Finland table 15fa. Source: Statistics Finland, rents of dwellings (CC BY 4.0).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5828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4C5C"/>
                </a:solidFill>
                <a:latin typeface="Cambria"/>
              </a:rPr>
              <a:t>Each extra month of lease-up costs about €29,000, half a month of the building's rent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600200"/>
          <a:ext cx="64008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893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EB6834"/>
                </a:solidFill>
                <a:latin typeface="Calibri"/>
              </a:rPr>
              <a:t>HYPOTHETICAL building: 70 flats in Helsinki zone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6002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764792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4C5C"/>
                </a:solidFill>
                <a:latin typeface="Cambria"/>
              </a:rPr>
              <a:t>€176k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468880"/>
            <a:ext cx="3749039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864"/>
                </a:solidFill>
                <a:latin typeface="Calibri"/>
              </a:rPr>
              <a:t>first-year NOI lost by letting in 9 months instead of 3, 34.5% of a full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10896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3273552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4C5C"/>
                </a:solidFill>
                <a:latin typeface="Cambria"/>
              </a:rP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77639"/>
            <a:ext cx="3749039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864"/>
                </a:solidFill>
                <a:latin typeface="Calibri"/>
              </a:rPr>
              <a:t>rent cut that still pays off in year one, if it fills the building in 3 months instead of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61772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782312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B6834"/>
                </a:solidFill>
                <a:latin typeface="Cambria"/>
              </a:rPr>
              <a:t>20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5486400"/>
            <a:ext cx="3749039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5864"/>
                </a:solidFill>
                <a:latin typeface="Calibri"/>
              </a:rPr>
              <a:t>after year one until a 5% discount's gain is used up, if the discount stays in the leases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5828D"/>
                </a:solidFill>
                <a:latin typeface="Calibri"/>
              </a:rPr>
              <a:t>Rents: Statistics Finland 15fa, new leases, zone 2, 2026Q2. Assumptions on slide 4. Excel model with formulas: Helsinki_Rental_Benchmark.xlsx.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5828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4C5C"/>
                </a:solidFill>
                <a:latin typeface="Cambria"/>
              </a:rPr>
              <a:t>Every number is sourced or labelled as an assumption, and the building is hypothetical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0020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5760720"/>
              </a:tblGrid>
              <a:tr h="4368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109728" marR="109728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109728" marR="109728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 or basis</a:t>
                      </a:r>
                    </a:p>
                  </a:txBody>
                  <a:tcPr marL="109728" marR="109728" marT="45720" marB="45720" anchor="ctr">
                    <a:solidFill>
                      <a:srgbClr val="0F4C5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2202B"/>
                          </a:solidFill>
                          <a:latin typeface="Calibri"/>
                        </a:rPr>
                        <a:t>Building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70 flats, Helsinki zone 2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Hypothetical. Sizes within Rakli-Taaleri (Jan 2026) typical ranges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2202B"/>
                          </a:solidFill>
                          <a:latin typeface="Calibri"/>
                        </a:rPr>
                        <a:t>Rent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New-lease €/m² by flat size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Statistics Finland 15fa, zone 2, 2026Q2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2202B"/>
                          </a:solidFill>
                          <a:latin typeface="Calibri"/>
                        </a:rPr>
                        <a:t>Stabilised occupancy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97% (94% tested)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Kojamo valuation 97.5% (2025). Market 93.4% (KTI, Dec 2025)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2202B"/>
                          </a:solidFill>
                          <a:latin typeface="Calibri"/>
                        </a:rPr>
                        <a:t>Lease-up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Linear, 3 / 6 / 9 months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2202B"/>
                          </a:solidFill>
                          <a:latin typeface="Calibri"/>
                        </a:rPr>
                        <a:t>Incentive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1 free month per lease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Assumption. JLL Q1 2026: incentives widely used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2202B"/>
                          </a:solidFill>
                          <a:latin typeface="Calibri"/>
                        </a:rPr>
                        <a:t>Operating costs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€6.00/m²/month, all flats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Assumption. Kojamo 6.75, Statistics Finland 6.17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2202B"/>
                          </a:solidFill>
                          <a:latin typeface="Calibri"/>
                        </a:rPr>
                        <a:t>Rent growth, year 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0% (+2.1% tested)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Part 2: like-for-like forecast flat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2202B"/>
                          </a:solidFill>
                          <a:latin typeface="Calibri"/>
                        </a:rPr>
                        <a:t>Valuation yield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4.3% (4.0-5.0% tested)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2202B"/>
                          </a:solidFill>
                          <a:latin typeface="Calibri"/>
                        </a:rPr>
                        <a:t>Prime yield: Catella Q3 2025, JLL Q1 2026. Kojamo 4.22%</a:t>
                      </a:r>
                    </a:p>
                  </a:txBody>
                  <a:tcPr marL="109728" marR="109728" marT="45720" marB="45720" anchor="ctr">
                    <a:solidFill>
                      <a:srgbClr val="E8F1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5864"/>
                </a:solidFill>
                <a:latin typeface="Calibri"/>
              </a:rPr>
              <a:t>Data: Statistics Finland, rents of dwellings (CC BY 4.0), tables 13eb, 11x4, 15fa, fetched 8 Oct 2026. Market: KTI, JLL, Kojamo plc, Rakli-Taaleri. Full log: notes/assumptions_and_sources.md.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5828D"/>
                </a:solidFill>
                <a:latin typeface="Calibri"/>
              </a:rPr>
              <a:t>Not a valuation of any real property or fund. Built with Python, R, Excel and Claude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75828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Helsinki rental market benchmark and lease-up model</dc:title>
  <dc:subject/>
  <dc:creator>Albin Oruglica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